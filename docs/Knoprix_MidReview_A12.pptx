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3A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669280"/>
            <a:ext cx="3108960" cy="3108960"/>
          </a:xfrm>
          <a:prstGeom prst="ellipse">
            <a:avLst/>
          </a:prstGeom>
          <a:solidFill>
            <a:srgbClr val="331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051560"/>
            <a:ext cx="960120" cy="96012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078992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Segoe UI"/>
              </a:rPr>
              <a:t>A DSA-POWERED KNOWLEDGE MANAGEMENT PLATFORM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 i="0">
                <a:solidFill>
                  <a:srgbClr val="FFF7ED"/>
                </a:solidFill>
                <a:latin typeface="Segoe UI"/>
              </a:rPr>
              <a:t>with Intelligent Document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97316"/>
                </a:solidFill>
                <a:latin typeface="Segoe UI"/>
              </a:rPr>
              <a:t>KNOPRIX  ·  Mid-Semester Review  ·  ~50% of final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E8D5C0"/>
                </a:solidFill>
                <a:latin typeface="Segoe UI"/>
              </a:rPr>
              <a:t>Advanced Data Structures &amp; Algorithms (ADSA)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7ED"/>
                </a:solidFill>
                <a:latin typeface="Segoe UI"/>
              </a:rPr>
              <a:t>Group A12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69080"/>
            <a:ext cx="2542032" cy="1051560"/>
          </a:xfrm>
          <a:prstGeom prst="roundRect">
            <a:avLst>
              <a:gd name="adj" fmla="val 10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233672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FFF7ED"/>
                </a:solidFill>
                <a:latin typeface="Segoe UI"/>
              </a:rPr>
              <a:t>T.V.S.S Phanindra Guptha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5994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F59E0B"/>
                </a:solidFill>
                <a:latin typeface="Segoe UI"/>
              </a:rPr>
              <a:t>cb.ai.u4aid25055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4069080"/>
            <a:ext cx="2542032" cy="1051560"/>
          </a:xfrm>
          <a:prstGeom prst="roundRect">
            <a:avLst>
              <a:gd name="adj" fmla="val 10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4233672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FFF7ED"/>
                </a:solidFill>
                <a:latin typeface="Segoe UI"/>
              </a:rPr>
              <a:t>Athul V.R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45994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F59E0B"/>
                </a:solidFill>
                <a:latin typeface="Segoe UI"/>
              </a:rPr>
              <a:t>cb.ai.u4aid25005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069080"/>
            <a:ext cx="2542032" cy="1051560"/>
          </a:xfrm>
          <a:prstGeom prst="roundRect">
            <a:avLst>
              <a:gd name="adj" fmla="val 10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4233672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FFF7ED"/>
                </a:solidFill>
                <a:latin typeface="Segoe UI"/>
              </a:rPr>
              <a:t>M. Vittal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5994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F59E0B"/>
                </a:solidFill>
                <a:latin typeface="Segoe UI"/>
              </a:rPr>
              <a:t>cb.ai.u4aid25033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4069080"/>
            <a:ext cx="2542032" cy="1051560"/>
          </a:xfrm>
          <a:prstGeom prst="roundRect">
            <a:avLst>
              <a:gd name="adj" fmla="val 10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4233672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FFF7ED"/>
                </a:solidFill>
                <a:latin typeface="Segoe UI"/>
              </a:rPr>
              <a:t>K. Nanda Kishore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45994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F59E0B"/>
                </a:solidFill>
                <a:latin typeface="Segoe UI"/>
              </a:rPr>
              <a:t>cb.ai.u4aid25027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B89B7E"/>
                </a:solidFill>
                <a:latin typeface="Segoe UI"/>
              </a:rPr>
              <a:t>Deployed live:  </a:t>
            </a:r>
            <a:r>
              <a:rPr sz="1200" b="1" i="0">
                <a:solidFill>
                  <a:srgbClr val="FFF7ED"/>
                </a:solidFill>
                <a:latin typeface="Segoe UI"/>
              </a:rPr>
              <a:t>knoprixv2midreview.netlify.app</a:t>
            </a:r>
            <a:r>
              <a:rPr sz="1200" b="1" i="0">
                <a:solidFill>
                  <a:srgbClr val="FFF7ED"/>
                </a:solidFill>
                <a:latin typeface="Segoe UI"/>
              </a:rPr>
              <a:t>   ·   API: knoprix-midreview-api.onrender.com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89B7E"/>
                </a:solidFill>
                <a:latin typeface="Segoe UI"/>
              </a:rPr>
              <a:t>Guided by: Faculty Mentor  ·  Dept. of AI &amp; DS  ·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3A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669280"/>
            <a:ext cx="3108960" cy="3108960"/>
          </a:xfrm>
          <a:prstGeom prst="ellipse">
            <a:avLst/>
          </a:prstGeom>
          <a:solidFill>
            <a:srgbClr val="331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02 ·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7ED"/>
                </a:solidFill>
                <a:latin typeface="Segoe UI"/>
              </a:rPr>
              <a:t>Motivation &amp; 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07008"/>
            <a:ext cx="3108960" cy="320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89B7E"/>
                </a:solidFill>
                <a:latin typeface="Segoe U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2214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591056"/>
            <a:ext cx="5157216" cy="2075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97316"/>
                </a:solidFill>
                <a:latin typeface="Segoe UI"/>
              </a:rPr>
              <a:t>Why this project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E8D5C0"/>
                </a:solidFill>
                <a:latin typeface="Segoe UI"/>
              </a:rPr>
              <a:t>Students, researchers and professionals work with vast amounts of information scattered across PDFs, presentations, documents, notes and images.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12848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0">
                <a:solidFill>
                  <a:srgbClr val="F59E0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E8D5C0"/>
                </a:solidFill>
                <a:latin typeface="Segoe UI"/>
              </a:rPr>
              <a:t>Content lives in many isolated formats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0">
                <a:solidFill>
                  <a:srgbClr val="F59E0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E8D5C0"/>
                </a:solidFill>
                <a:latin typeface="Segoe UI"/>
              </a:rPr>
              <a:t>Finding a passage later is slow &amp; manual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0">
                <a:solidFill>
                  <a:srgbClr val="F59E0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E8D5C0"/>
                </a:solidFill>
                <a:latin typeface="Segoe UI"/>
              </a:rPr>
              <a:t>Key ideas get lost — nothing is linked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2214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591056"/>
            <a:ext cx="5157216" cy="2075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F97316"/>
                </a:solidFill>
                <a:latin typeface="Segoe UI"/>
              </a:rPr>
              <a:t>What exists today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E8D5C0"/>
                </a:solidFill>
                <a:latin typeface="Segoe UI"/>
              </a:rPr>
              <a:t>File managers, note apps and AI chatbots each solve one slice — but none unify organisation, retrieval and recall.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212848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0">
                <a:solidFill>
                  <a:srgbClr val="F59E0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E8D5C0"/>
                </a:solidFill>
                <a:latin typeface="Segoe UI"/>
              </a:rPr>
              <a:t>File explorers: no content-level search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0">
                <a:solidFill>
                  <a:srgbClr val="F59E0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E8D5C0"/>
                </a:solidFill>
                <a:latin typeface="Segoe UI"/>
              </a:rPr>
              <a:t>Note apps (Obsidian/Roam): manual linking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0">
                <a:solidFill>
                  <a:srgbClr val="F59E0B"/>
                </a:solidFill>
                <a:latin typeface="Segoe UI"/>
              </a:rPr>
              <a:t>•  </a:t>
            </a:r>
            <a:r>
              <a:rPr sz="1150" b="0" i="0">
                <a:solidFill>
                  <a:srgbClr val="E8D5C0"/>
                </a:solidFill>
                <a:latin typeface="Segoe UI"/>
              </a:rPr>
              <a:t>AI agents: black-box, opaque, heavy compute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69080"/>
            <a:ext cx="11183112" cy="2148840"/>
          </a:xfrm>
          <a:prstGeom prst="roundRect">
            <a:avLst>
              <a:gd name="adj" fmla="val 7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97316"/>
                </a:solidFill>
                <a:latin typeface="Segoe UI"/>
              </a:rPr>
              <a:t>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81728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 i="0">
                <a:solidFill>
                  <a:srgbClr val="E8D5C0"/>
                </a:solidFill>
                <a:latin typeface="Segoe UI"/>
              </a:rPr>
              <a:t>There is no unified, </a:t>
            </a:r>
            <a:r>
              <a:rPr sz="1400" b="1" i="0">
                <a:solidFill>
                  <a:srgbClr val="FFF7ED"/>
                </a:solidFill>
                <a:latin typeface="Segoe UI"/>
              </a:rPr>
              <a:t>transparent DSA-based platform</a:t>
            </a:r>
            <a:r>
              <a:rPr sz="1400" b="0" i="0">
                <a:solidFill>
                  <a:srgbClr val="E8D5C0"/>
                </a:solidFill>
                <a:latin typeface="Segoe UI"/>
              </a:rPr>
              <a:t> that organises multi-format documents, enables instant prefix autocomplete and ranked full-text retrieval, and provides LIFO recall of important passages — all explainable, self-contained, and without black-box ML or external API keys.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3A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669280"/>
            <a:ext cx="3108960" cy="3108960"/>
          </a:xfrm>
          <a:prstGeom prst="ellipse">
            <a:avLst/>
          </a:prstGeom>
          <a:solidFill>
            <a:srgbClr val="331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03 · LITERATURE SURVEY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7ED"/>
                </a:solidFill>
                <a:latin typeface="Segoe UI"/>
              </a:rPr>
              <a:t>Literature Survey (tabular)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07008"/>
            <a:ext cx="3108960" cy="320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89B7E"/>
                </a:solidFill>
                <a:latin typeface="Segoe UI"/>
              </a:rPr>
              <a:t>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63040"/>
          <a:ext cx="11183111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977639"/>
                <a:gridCol w="685800"/>
                <a:gridCol w="1600200"/>
                <a:gridCol w="3182112"/>
              </a:tblGrid>
              <a:tr h="310896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Author(s)</a:t>
                      </a:r>
                    </a:p>
                  </a:txBody>
                  <a:tcPr>
                    <a:solidFill>
                      <a:srgbClr val="8A3D0D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Title</a:t>
                      </a:r>
                    </a:p>
                  </a:txBody>
                  <a:tcPr>
                    <a:solidFill>
                      <a:srgbClr val="8A3D0D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Year</a:t>
                      </a:r>
                    </a:p>
                  </a:txBody>
                  <a:tcPr>
                    <a:solidFill>
                      <a:srgbClr val="8A3D0D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>
                    <a:solidFill>
                      <a:srgbClr val="8A3D0D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Relevance / Gap addressed</a:t>
                      </a:r>
                    </a:p>
                  </a:txBody>
                  <a:tcPr>
                    <a:solidFill>
                      <a:srgbClr val="8A3D0D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7ED"/>
                          </a:solidFill>
                          <a:latin typeface="Segoe UI"/>
                        </a:rPr>
                        <a:t>Lewis, P. et al.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FFF7ED"/>
                          </a:solidFill>
                          <a:latin typeface="Segoe UI"/>
                        </a:rPr>
                        <a:t>Retrieval-Augmented Generation for Knowledge-Intensive NLP Tasks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2020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NeurIPS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Parametric + non-parametric memory; retrieval grounds answers — but relies on heavy neural retrievers (black-box)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7ED"/>
                          </a:solidFill>
                          <a:latin typeface="Segoe UI"/>
                        </a:rPr>
                        <a:t>Zobel, J. &amp; Moffat, A.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FFF7ED"/>
                          </a:solidFill>
                          <a:latin typeface="Segoe UI"/>
                        </a:rPr>
                        <a:t>Inverted Files for Text Search Engines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2006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ACM Computing Surveys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Canonical inverted-index design &amp; compression — foundation of our full-text index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7ED"/>
                          </a:solidFill>
                          <a:latin typeface="Segoe UI"/>
                        </a:rPr>
                        <a:t>Fredkin, E.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FFF7ED"/>
                          </a:solidFill>
                          <a:latin typeface="Segoe UI"/>
                        </a:rPr>
                        <a:t>Trie Memory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1960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Communications of the ACM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Origin of the trie — O(L) prefix lookup; basis of our autocomplete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7ED"/>
                          </a:solidFill>
                          <a:latin typeface="Segoe UI"/>
                        </a:rPr>
                        <a:t>Ilyas, I. F. et al.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FFF7ED"/>
                          </a:solidFill>
                          <a:latin typeface="Segoe UI"/>
                        </a:rPr>
                        <a:t>A Survey of Top-k Query Processing Techniques in Relational Databases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2008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ACM Computing Surveys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Top-k with threshold/heap algorithms — motivates Min-Heap ranking (final review)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7ED"/>
                          </a:solidFill>
                          <a:latin typeface="Segoe UI"/>
                        </a:rPr>
                        <a:t>Kahn, A. B.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FFF7ED"/>
                          </a:solidFill>
                          <a:latin typeface="Segoe UI"/>
                        </a:rPr>
                        <a:t>Topological Sorting of Large Networks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1962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Communications of the ACM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Graph ordering — basis of our Knowledge Graph linking (final review)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</a:tr>
              <a:tr h="566928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7ED"/>
                          </a:solidFill>
                          <a:latin typeface="Segoe UI"/>
                        </a:rPr>
                        <a:t>Brin, S. &amp; Page, L.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FFF7ED"/>
                          </a:solidFill>
                          <a:latin typeface="Segoe UI"/>
                        </a:rPr>
                        <a:t>The Anatomy of a Large-Scale Hypertextual Web Search Engine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1998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Computer Networks &amp; ISDN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Web-scale retrieval architecture — context for ranked, snippet-based results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349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F59E0B"/>
                </a:solidFill>
                <a:latin typeface="Segoe UI"/>
              </a:rPr>
              <a:t>Tools studied: </a:t>
            </a:r>
            <a:r>
              <a:rPr sz="1050" b="0" i="0">
                <a:solidFill>
                  <a:srgbClr val="B89B7E"/>
                </a:solidFill>
                <a:latin typeface="Segoe UI"/>
              </a:rPr>
              <a:t>Obsidian (2020), Roam Research (2019), Google NotebookLM (2023) — powerful, but require manual linking or cloud AI; no transparent local DSA retrieval.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3A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669280"/>
            <a:ext cx="3108960" cy="3108960"/>
          </a:xfrm>
          <a:prstGeom prst="ellipse">
            <a:avLst/>
          </a:prstGeom>
          <a:solidFill>
            <a:srgbClr val="331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04 · NOVELTY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7ED"/>
                </a:solidFill>
                <a:latin typeface="Segoe UI"/>
              </a:rPr>
              <a:t>Research Gap &amp; Novelty of the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07008"/>
            <a:ext cx="3108960" cy="320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89B7E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Research gaps identified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2670048" cy="1554480"/>
          </a:xfrm>
          <a:prstGeom prst="roundRect">
            <a:avLst>
              <a:gd name="adj" fmla="val 8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911095"/>
            <a:ext cx="234086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F97316"/>
                </a:solidFill>
                <a:latin typeface="Segoe UI"/>
              </a:rPr>
              <a:t>Black-box retrieval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E8D5C0"/>
                </a:solidFill>
                <a:latin typeface="Segoe UI"/>
              </a:rPr>
              <a:t>AI assistants fetch answers with opaque, unverifiable reasoning.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783080"/>
            <a:ext cx="2670048" cy="1554480"/>
          </a:xfrm>
          <a:prstGeom prst="roundRect">
            <a:avLst>
              <a:gd name="adj" fmla="val 8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911095"/>
            <a:ext cx="234086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F97316"/>
                </a:solidFill>
                <a:latin typeface="Segoe UI"/>
              </a:rPr>
              <a:t>Manual knowledge linking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E8D5C0"/>
                </a:solidFill>
                <a:latin typeface="Segoe UI"/>
              </a:rPr>
              <a:t>Note tools require users to create every connection by hand.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83080"/>
            <a:ext cx="2670048" cy="1554480"/>
          </a:xfrm>
          <a:prstGeom prst="roundRect">
            <a:avLst>
              <a:gd name="adj" fmla="val 8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11095"/>
            <a:ext cx="234086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F97316"/>
                </a:solidFill>
                <a:latin typeface="Segoe UI"/>
              </a:rPr>
              <a:t>No content-level search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E8D5C0"/>
                </a:solidFill>
                <a:latin typeface="Segoe UI"/>
              </a:rPr>
              <a:t>File managers index names, not the words inside documents.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783080"/>
            <a:ext cx="2670048" cy="1554480"/>
          </a:xfrm>
          <a:prstGeom prst="roundRect">
            <a:avLst>
              <a:gd name="adj" fmla="val 8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1911095"/>
            <a:ext cx="234086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F97316"/>
                </a:solidFill>
                <a:latin typeface="Segoe UI"/>
              </a:rPr>
              <a:t>External dependency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E8D5C0"/>
                </a:solidFill>
                <a:latin typeface="Segoe UI"/>
              </a:rPr>
              <a:t>Cloud/API-based tools need keys, accounts and internet.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118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Segoe UI"/>
              </a:rPr>
              <a:t>Novelty of KNOPRIX (mid-review build)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977639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3959352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DSA-driven intelligence layer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 i="0">
                <a:solidFill>
                  <a:srgbClr val="E8D5C0"/>
                </a:solidFill>
                <a:latin typeface="Segoe UI"/>
              </a:rPr>
              <a:t>Trie + Inverted Index + Stack replace black-box ML with transparent, explainable retrieval.</a:t>
            </a:r>
          </a:p>
        </p:txBody>
      </p:sp>
      <p:sp>
        <p:nvSpPr>
          <p:cNvPr id="22" name="Oval 21"/>
          <p:cNvSpPr/>
          <p:nvPr/>
        </p:nvSpPr>
        <p:spPr>
          <a:xfrm>
            <a:off x="4279392" y="3977639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3959352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Visual LIFO Stack bookmarks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 i="0">
                <a:solidFill>
                  <a:srgbClr val="E8D5C0"/>
                </a:solidFill>
                <a:latin typeface="Segoe UI"/>
              </a:rPr>
              <a:t>Reading recall mapped to push / pop / peek — an animated stack drawer with O(1) operations.</a:t>
            </a:r>
          </a:p>
        </p:txBody>
      </p:sp>
      <p:sp>
        <p:nvSpPr>
          <p:cNvPr id="24" name="Oval 23"/>
          <p:cNvSpPr/>
          <p:nvPr/>
        </p:nvSpPr>
        <p:spPr>
          <a:xfrm>
            <a:off x="8055864" y="3977639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3959352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Ranked search with scores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 i="0">
                <a:solidFill>
                  <a:srgbClr val="E8D5C0"/>
                </a:solidFill>
                <a:latin typeface="Segoe UI"/>
              </a:rPr>
              <a:t>Inverted Index returns results with match scores and snippets — instant, self-contained.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5276088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525780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Trie autocomplete with frequency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 i="0">
                <a:solidFill>
                  <a:srgbClr val="E8D5C0"/>
                </a:solidFill>
                <a:latin typeface="Segoe UI"/>
              </a:rPr>
              <a:t>O(L) prefix suggestions ranked by real word frequency across your documents.</a:t>
            </a:r>
          </a:p>
        </p:txBody>
      </p:sp>
      <p:sp>
        <p:nvSpPr>
          <p:cNvPr id="28" name="Oval 27"/>
          <p:cNvSpPr/>
          <p:nvPr/>
        </p:nvSpPr>
        <p:spPr>
          <a:xfrm>
            <a:off x="4279392" y="5276088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525780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Multi-format workspace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 i="0">
                <a:solidFill>
                  <a:srgbClr val="E8D5C0"/>
                </a:solidFill>
                <a:latin typeface="Segoe UI"/>
              </a:rPr>
              <a:t>PDF, PPTX, DOCX, TXT/MD in isolated projects — one place to read everything.</a:t>
            </a:r>
          </a:p>
        </p:txBody>
      </p:sp>
      <p:sp>
        <p:nvSpPr>
          <p:cNvPr id="30" name="Oval 29"/>
          <p:cNvSpPr/>
          <p:nvPr/>
        </p:nvSpPr>
        <p:spPr>
          <a:xfrm>
            <a:off x="8055864" y="5276088"/>
            <a:ext cx="310896" cy="31089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525780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Fully self-contained &amp; secure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 i="0">
                <a:solidFill>
                  <a:srgbClr val="E8D5C0"/>
                </a:solidFill>
                <a:latin typeface="Segoe UI"/>
              </a:rPr>
              <a:t>JWT auth, owner-scoped routes (IDOR-proof), no API keys, deployed live on Netlify + Render.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3A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669280"/>
            <a:ext cx="3108960" cy="3108960"/>
          </a:xfrm>
          <a:prstGeom prst="ellipse">
            <a:avLst/>
          </a:prstGeom>
          <a:solidFill>
            <a:srgbClr val="331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05 ·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7ED"/>
                </a:solidFill>
                <a:latin typeface="Segoe UI"/>
              </a:rPr>
              <a:t>Project Objectives (mid-review scope)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07008"/>
            <a:ext cx="3108960" cy="320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89B7E"/>
                </a:solidFill>
                <a:latin typeface="Segoe UI"/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1481328"/>
            <a:ext cx="384048" cy="3840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44752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 i="0">
                <a:solidFill>
                  <a:srgbClr val="FFF7ED"/>
                </a:solidFill>
                <a:latin typeface="Segoe UI"/>
              </a:rPr>
              <a:t>Unified document management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E8D5C0"/>
                </a:solidFill>
                <a:latin typeface="Segoe UI"/>
              </a:rPr>
              <a:t>Project-based workspace for PDF, PPTX, DOCX and TXT/MD — organised folders with a Tree + DFS hierarchy 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1938528"/>
            <a:ext cx="3657" cy="457200"/>
          </a:xfrm>
          <a:prstGeom prst="rect">
            <a:avLst/>
          </a:prstGeom>
          <a:solidFill>
            <a:srgbClr val="4A3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" y="2505456"/>
            <a:ext cx="384048" cy="3840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6888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 i="0">
                <a:solidFill>
                  <a:srgbClr val="FFF7ED"/>
                </a:solidFill>
                <a:latin typeface="Segoe UI"/>
              </a:rPr>
              <a:t>Trie-based instant autocomplete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E8D5C0"/>
                </a:solidFill>
                <a:latin typeface="Segoe UI"/>
              </a:rPr>
              <a:t>Live prefix suggestions in the navbar, ranked by word frequency across all documents (O(L) search).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2962656"/>
            <a:ext cx="3657" cy="457200"/>
          </a:xfrm>
          <a:prstGeom prst="rect">
            <a:avLst/>
          </a:prstGeom>
          <a:solidFill>
            <a:srgbClr val="4A3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" y="3529584"/>
            <a:ext cx="384048" cy="3840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9300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 i="0">
                <a:solidFill>
                  <a:srgbClr val="FFF7ED"/>
                </a:solidFill>
                <a:latin typeface="Segoe UI"/>
              </a:rPr>
              <a:t>Inverted-Index ranked full-text search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E8D5C0"/>
                </a:solidFill>
                <a:latin typeface="Segoe UI"/>
              </a:rPr>
              <a:t>Type a phrase → scored results with snippets; click any result to jump straight into the document.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" y="3986784"/>
            <a:ext cx="3657" cy="457200"/>
          </a:xfrm>
          <a:prstGeom prst="rect">
            <a:avLst/>
          </a:prstGeom>
          <a:solidFill>
            <a:srgbClr val="4A3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4553712"/>
            <a:ext cx="384048" cy="3840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17136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 i="0">
                <a:solidFill>
                  <a:srgbClr val="FFF7ED"/>
                </a:solidFill>
                <a:latin typeface="Segoe UI"/>
              </a:rPr>
              <a:t>Stack (LIFO) bookmarking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E8D5C0"/>
                </a:solidFill>
                <a:latin typeface="Segoe UI"/>
              </a:rPr>
              <a:t>Every highlight or page bookmark is pushed onto a visual Stack; pop() removes the most recent, peek() shows the top.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" y="5010912"/>
            <a:ext cx="3657" cy="457200"/>
          </a:xfrm>
          <a:prstGeom prst="rect">
            <a:avLst/>
          </a:prstGeom>
          <a:solidFill>
            <a:srgbClr val="4A3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" y="5577840"/>
            <a:ext cx="384048" cy="384048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41264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50" b="1" i="0">
                <a:solidFill>
                  <a:srgbClr val="FFF7ED"/>
                </a:solidFill>
                <a:latin typeface="Segoe UI"/>
              </a:rPr>
              <a:t>Secure, deployable full-stack system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0" i="0">
                <a:solidFill>
                  <a:srgbClr val="E8D5C0"/>
                </a:solidFill>
                <a:latin typeface="Segoe UI"/>
              </a:rPr>
              <a:t>JWT + bcrypt auth, rate-limited login, owner-scoped routes, SQLite persistence — deployed on Netlify + Render.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89B7E"/>
                </a:solidFill>
                <a:latin typeface="Segoe UI"/>
              </a:rPr>
              <a:t>Final review extends scope: </a:t>
            </a:r>
            <a:r>
              <a:rPr sz="1050" b="0" i="0">
                <a:solidFill>
                  <a:srgbClr val="B89B7E"/>
                </a:solidFill>
                <a:latin typeface="Segoe UI"/>
              </a:rPr>
              <a:t>Knowledge Graph · Min-Heap top-k ranking · AI document agent · read-aloud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3A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669280"/>
            <a:ext cx="3108960" cy="3108960"/>
          </a:xfrm>
          <a:prstGeom prst="ellipse">
            <a:avLst/>
          </a:prstGeom>
          <a:solidFill>
            <a:srgbClr val="331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06 ·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7ED"/>
                </a:solidFill>
                <a:latin typeface="Segoe UI"/>
              </a:rPr>
              <a:t>Work-Flow Diagram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07008"/>
            <a:ext cx="3108960" cy="320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89B7E"/>
                </a:solidFill>
                <a:latin typeface="Segoe U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2121408" cy="960120"/>
          </a:xfrm>
          <a:prstGeom prst="roundRect">
            <a:avLst>
              <a:gd name="adj" fmla="val 12000"/>
            </a:avLst>
          </a:prstGeom>
          <a:solidFill>
            <a:srgbClr val="22140B"/>
          </a:solidFill>
          <a:ln w="9525">
            <a:solidFill>
              <a:srgbClr val="5A3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09928"/>
            <a:ext cx="193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Upload 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11680"/>
            <a:ext cx="193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B89B7E"/>
                </a:solidFill>
                <a:latin typeface="Segoe UI"/>
              </a:rPr>
              <a:t>PDF · PPTX · DOCX · TXT/MD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08376" y="1600200"/>
            <a:ext cx="2121408" cy="960120"/>
          </a:xfrm>
          <a:prstGeom prst="roundRect">
            <a:avLst>
              <a:gd name="adj" fmla="val 12000"/>
            </a:avLst>
          </a:prstGeom>
          <a:solidFill>
            <a:srgbClr val="22140B"/>
          </a:solidFill>
          <a:ln w="9525">
            <a:solidFill>
              <a:srgbClr val="5A3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9816" y="1709928"/>
            <a:ext cx="193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Parse &amp; 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816" y="2011680"/>
            <a:ext cx="193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B89B7E"/>
                </a:solidFill>
                <a:latin typeface="Segoe UI"/>
              </a:rPr>
              <a:t>pdf / pptx / docx parser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13831" y="1600200"/>
            <a:ext cx="2121408" cy="960120"/>
          </a:xfrm>
          <a:prstGeom prst="roundRect">
            <a:avLst>
              <a:gd name="adj" fmla="val 12000"/>
            </a:avLst>
          </a:prstGeom>
          <a:solidFill>
            <a:srgbClr val="22140B"/>
          </a:solidFill>
          <a:ln w="9525">
            <a:solidFill>
              <a:srgbClr val="5A3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05271" y="1709928"/>
            <a:ext cx="193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Tokenize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5271" y="2011680"/>
            <a:ext cx="193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B89B7E"/>
                </a:solidFill>
                <a:latin typeface="Segoe UI"/>
              </a:rPr>
              <a:t>lowercase · stopwords · split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9288" y="1600200"/>
            <a:ext cx="2121408" cy="960120"/>
          </a:xfrm>
          <a:prstGeom prst="roundRect">
            <a:avLst>
              <a:gd name="adj" fmla="val 12000"/>
            </a:avLst>
          </a:prstGeom>
          <a:solidFill>
            <a:srgbClr val="22140B"/>
          </a:solidFill>
          <a:ln w="9525">
            <a:solidFill>
              <a:srgbClr val="5A3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7" y="1709928"/>
            <a:ext cx="193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Build DSA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7" y="2011680"/>
            <a:ext cx="193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B89B7E"/>
                </a:solidFill>
                <a:latin typeface="Segoe UI"/>
              </a:rPr>
              <a:t>Trie + Inverted Index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42616" y="1947672"/>
            <a:ext cx="384048" cy="256032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148071" y="1947672"/>
            <a:ext cx="384048" cy="256032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653527" y="1947672"/>
            <a:ext cx="384048" cy="256032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36408" y="2788920"/>
            <a:ext cx="2487168" cy="566928"/>
          </a:xfrm>
          <a:prstGeom prst="roundRect">
            <a:avLst>
              <a:gd name="adj" fmla="val 20000"/>
            </a:avLst>
          </a:prstGeom>
          <a:solidFill>
            <a:srgbClr val="33200E"/>
          </a:solidFill>
          <a:ln w="9525">
            <a:solidFill>
              <a:srgbClr val="5A3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3567" y="2880360"/>
            <a:ext cx="22128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F59E0B"/>
                </a:solidFill>
                <a:latin typeface="Segoe UI"/>
              </a:rPr>
              <a:t>Persist to SQLite  ·  dsa_indices (JSON)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043415" y="2587751"/>
            <a:ext cx="256032" cy="365760"/>
          </a:xfrm>
          <a:prstGeom prst="down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9043415" y="3355848"/>
            <a:ext cx="256032" cy="365760"/>
          </a:xfrm>
          <a:prstGeom prst="down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3794760"/>
            <a:ext cx="2121408" cy="960120"/>
          </a:xfrm>
          <a:prstGeom prst="roundRect">
            <a:avLst>
              <a:gd name="adj" fmla="val 12000"/>
            </a:avLst>
          </a:prstGeom>
          <a:solidFill>
            <a:srgbClr val="2B1A0E"/>
          </a:solidFill>
          <a:ln w="9525">
            <a:solidFill>
              <a:srgbClr val="5A3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904488"/>
            <a:ext cx="193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Navbar 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206240"/>
            <a:ext cx="193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B89B7E"/>
                </a:solidFill>
                <a:latin typeface="Segoe UI"/>
              </a:rPr>
              <a:t>word → Trie · phrase → Inverted Index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08376" y="3794760"/>
            <a:ext cx="2121408" cy="960120"/>
          </a:xfrm>
          <a:prstGeom prst="roundRect">
            <a:avLst>
              <a:gd name="adj" fmla="val 12000"/>
            </a:avLst>
          </a:prstGeom>
          <a:solidFill>
            <a:srgbClr val="2B1A0E"/>
          </a:solidFill>
          <a:ln w="9525">
            <a:solidFill>
              <a:srgbClr val="5A3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9816" y="3904488"/>
            <a:ext cx="193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Autocomplete / 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816" y="4206240"/>
            <a:ext cx="193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B89B7E"/>
                </a:solidFill>
                <a:latin typeface="Segoe UI"/>
              </a:rPr>
              <a:t>ranked results + snippets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13831" y="3794760"/>
            <a:ext cx="2121408" cy="960120"/>
          </a:xfrm>
          <a:prstGeom prst="roundRect">
            <a:avLst>
              <a:gd name="adj" fmla="val 12000"/>
            </a:avLst>
          </a:prstGeom>
          <a:solidFill>
            <a:srgbClr val="2B1A0E"/>
          </a:solidFill>
          <a:ln w="9525">
            <a:solidFill>
              <a:srgbClr val="5A3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05271" y="3904488"/>
            <a:ext cx="193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Open document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05271" y="4206240"/>
            <a:ext cx="193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B89B7E"/>
                </a:solidFill>
                <a:latin typeface="Segoe UI"/>
              </a:rPr>
              <a:t>PDF / PPTX slide viewer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9288" y="3794760"/>
            <a:ext cx="2121408" cy="960120"/>
          </a:xfrm>
          <a:prstGeom prst="roundRect">
            <a:avLst>
              <a:gd name="adj" fmla="val 12000"/>
            </a:avLst>
          </a:prstGeom>
          <a:solidFill>
            <a:srgbClr val="2B1A0E"/>
          </a:solidFill>
          <a:ln w="9525">
            <a:solidFill>
              <a:srgbClr val="5A3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10727" y="3904488"/>
            <a:ext cx="193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Bookmark → Stack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0727" y="4206240"/>
            <a:ext cx="193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0" i="0">
                <a:solidFill>
                  <a:srgbClr val="B89B7E"/>
                </a:solidFill>
                <a:latin typeface="Segoe UI"/>
              </a:rPr>
              <a:t>push · pop · peek · O(1)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642616" y="4142232"/>
            <a:ext cx="384048" cy="256032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5148071" y="4142232"/>
            <a:ext cx="384048" cy="256032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7653527" y="4142232"/>
            <a:ext cx="384048" cy="256032"/>
          </a:xfrm>
          <a:prstGeom prst="right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own Arrow 43"/>
          <p:cNvSpPr/>
          <p:nvPr/>
        </p:nvSpPr>
        <p:spPr>
          <a:xfrm>
            <a:off x="1280160" y="3355848"/>
            <a:ext cx="256032" cy="420624"/>
          </a:xfrm>
          <a:prstGeom prst="down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029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B89B7E"/>
                </a:solidFill>
                <a:latin typeface="Segoe UI"/>
              </a:rPr>
              <a:t>Indices rebuild automatically on upload / delete  →  always fresh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3492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B89B7E"/>
                </a:solidFill>
                <a:latin typeface="Segoe UI"/>
              </a:rPr>
              <a:t>Every step is pure Python + SQLite — transparent, auditable, no external AI calls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3A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669280"/>
            <a:ext cx="3108960" cy="3108960"/>
          </a:xfrm>
          <a:prstGeom prst="ellipse">
            <a:avLst/>
          </a:prstGeom>
          <a:solidFill>
            <a:srgbClr val="331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07 ·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7ED"/>
                </a:solidFill>
                <a:latin typeface="Segoe UI"/>
              </a:rPr>
              <a:t>Implementation Details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07008"/>
            <a:ext cx="3108960" cy="320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89B7E"/>
                </a:solidFill>
                <a:latin typeface="Segoe U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Tech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37360"/>
            <a:ext cx="2788920" cy="310896"/>
          </a:xfrm>
          <a:prstGeom prst="roundRect">
            <a:avLst>
              <a:gd name="adj" fmla="val 50000"/>
            </a:avLst>
          </a:prstGeom>
          <a:solidFill>
            <a:srgbClr val="2B1A0E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FFF7ED"/>
                </a:solidFill>
                <a:latin typeface="Segoe UI"/>
              </a:rPr>
              <a:t>FastAPI · Python 3.13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737360"/>
            <a:ext cx="2788920" cy="310896"/>
          </a:xfrm>
          <a:prstGeom prst="roundRect">
            <a:avLst>
              <a:gd name="adj" fmla="val 50000"/>
            </a:avLst>
          </a:prstGeom>
          <a:solidFill>
            <a:srgbClr val="2B1A0E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FFF7ED"/>
                </a:solidFill>
                <a:latin typeface="Segoe UI"/>
              </a:rPr>
              <a:t>SQLite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39696"/>
            <a:ext cx="2788920" cy="310896"/>
          </a:xfrm>
          <a:prstGeom prst="roundRect">
            <a:avLst>
              <a:gd name="adj" fmla="val 50000"/>
            </a:avLst>
          </a:prstGeom>
          <a:solidFill>
            <a:srgbClr val="2B1A0E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FFF7ED"/>
                </a:solidFill>
                <a:latin typeface="Segoe UI"/>
              </a:rPr>
              <a:t>React 18 · 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139696"/>
            <a:ext cx="2788920" cy="310896"/>
          </a:xfrm>
          <a:prstGeom prst="roundRect">
            <a:avLst>
              <a:gd name="adj" fmla="val 50000"/>
            </a:avLst>
          </a:prstGeom>
          <a:solidFill>
            <a:srgbClr val="2B1A0E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FFF7ED"/>
                </a:solidFill>
                <a:latin typeface="Segoe UI"/>
              </a:rPr>
              <a:t>Tailwind 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42032"/>
            <a:ext cx="2788920" cy="310896"/>
          </a:xfrm>
          <a:prstGeom prst="roundRect">
            <a:avLst>
              <a:gd name="adj" fmla="val 50000"/>
            </a:avLst>
          </a:prstGeom>
          <a:solidFill>
            <a:srgbClr val="2B1A0E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FFF7ED"/>
                </a:solidFill>
                <a:latin typeface="Segoe UI"/>
              </a:rPr>
              <a:t>pdf.js · python-pptx · python-docx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2542032"/>
            <a:ext cx="2788920" cy="310896"/>
          </a:xfrm>
          <a:prstGeom prst="roundRect">
            <a:avLst>
              <a:gd name="adj" fmla="val 50000"/>
            </a:avLst>
          </a:prstGeom>
          <a:solidFill>
            <a:srgbClr val="2B1A0E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FFF7ED"/>
                </a:solidFill>
                <a:latin typeface="Segoe UI"/>
              </a:rPr>
              <a:t>JWT + bcrypt · rate limiting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44368"/>
            <a:ext cx="2788920" cy="310896"/>
          </a:xfrm>
          <a:prstGeom prst="roundRect">
            <a:avLst>
              <a:gd name="adj" fmla="val 50000"/>
            </a:avLst>
          </a:prstGeom>
          <a:solidFill>
            <a:srgbClr val="2B1A0E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00" b="1" i="0">
                <a:solidFill>
                  <a:srgbClr val="FFF7ED"/>
                </a:solidFill>
                <a:latin typeface="Segoe UI"/>
              </a:rPr>
              <a:t>Netlify + Render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417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DSA engine — where the code lives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173736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 i="0">
                <a:solidFill>
                  <a:srgbClr val="FFF7ED"/>
                </a:solidFill>
                <a:latin typeface="Segoe UI"/>
              </a:rPr>
              <a:t>backend/app/dsa/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 — one file per data structure: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2743200"/>
          <a:ext cx="11183112" cy="1847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377440"/>
                <a:gridCol w="3291840"/>
                <a:gridCol w="3364992"/>
              </a:tblGrid>
              <a:tr h="310896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File (app/dsa/)</a:t>
                      </a:r>
                    </a:p>
                  </a:txBody>
                  <a:tcPr>
                    <a:solidFill>
                      <a:srgbClr val="8A3D0D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Structure</a:t>
                      </a:r>
                    </a:p>
                  </a:txBody>
                  <a:tcPr>
                    <a:solidFill>
                      <a:srgbClr val="8A3D0D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Design</a:t>
                      </a:r>
                    </a:p>
                  </a:txBody>
                  <a:tcPr>
                    <a:solidFill>
                      <a:srgbClr val="8A3D0D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Complexity / role</a:t>
                      </a:r>
                    </a:p>
                  </a:txBody>
                  <a:tcPr>
                    <a:solidFill>
                      <a:srgbClr val="8A3D0D"/>
                    </a:solidFill>
                  </a:tcPr>
                </a:tc>
              </a:tr>
              <a:tr h="512064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59E0B"/>
                          </a:solidFill>
                          <a:latin typeface="Segoe UI"/>
                        </a:rPr>
                        <a:t>trie.py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7ED"/>
                          </a:solidFill>
                          <a:latin typeface="Segoe UI"/>
                        </a:rPr>
                        <a:t>Trie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prefix tree with word frequencies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insert/search/autocomplete O(L) · top keywords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</a:tr>
              <a:tr h="512064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59E0B"/>
                          </a:solidFill>
                          <a:latin typeface="Segoe UI"/>
                        </a:rPr>
                        <a:t>inverted_index.py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7ED"/>
                          </a:solidFill>
                          <a:latin typeface="Segoe UI"/>
                        </a:rPr>
                        <a:t>Inverted Index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word → {doc_id: count}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build O(n) · lookup O(1) · ranked scores</a:t>
                      </a:r>
                    </a:p>
                  </a:txBody>
                  <a:tcPr>
                    <a:solidFill>
                      <a:srgbClr val="2B1A0E"/>
                    </a:solidFill>
                  </a:tcPr>
                </a:tc>
              </a:tr>
              <a:tr h="512064"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59E0B"/>
                          </a:solidFill>
                          <a:latin typeface="Segoe UI"/>
                        </a:rPr>
                        <a:t>stack.py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1" i="0">
                          <a:solidFill>
                            <a:srgbClr val="FFF7ED"/>
                          </a:solidFill>
                          <a:latin typeface="Segoe UI"/>
                        </a:rPr>
                        <a:t>Stack (LIFO)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list-backed, pure Python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  <a:tc>
                  <a:txBody>
                    <a:bodyPr wrap="square" lIns="54864" rIns="54864" tIns="27432" bIns="27432" anchor="ctr"/>
                    <a:lstStyle/>
                    <a:p>
                      <a:pPr algn="l"/>
                      <a:r>
                        <a:rPr sz="900" b="0" i="0">
                          <a:solidFill>
                            <a:srgbClr val="E8D5C0"/>
                          </a:solidFill>
                          <a:latin typeface="Segoe UI"/>
                        </a:rPr>
                        <a:t>push/pop/peek O(1) · powers bookmarks</a:t>
                      </a:r>
                    </a:p>
                  </a:txBody>
                  <a:tcPr>
                    <a:solidFill>
                      <a:srgbClr val="22140B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F59E0B"/>
                </a:solidFill>
                <a:latin typeface="Segoe UI"/>
              </a:rPr>
              <a:t>• 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Indices serialised to SQLite (</a:t>
            </a:r>
            <a:r>
              <a:rPr sz="1050" b="1" i="0">
                <a:solidFill>
                  <a:srgbClr val="FFF7ED"/>
                </a:solidFill>
                <a:latin typeface="Segoe UI"/>
              </a:rPr>
              <a:t>dsa_indices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) and rebuilt on upload/delete via </a:t>
            </a:r>
            <a:r>
              <a:rPr sz="1050" b="1" i="0">
                <a:solidFill>
                  <a:srgbClr val="FFF7ED"/>
                </a:solidFill>
                <a:latin typeface="Segoe UI"/>
              </a:rPr>
              <a:t>services/indexer.py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F59E0B"/>
                </a:solidFill>
                <a:latin typeface="Segoe UI"/>
              </a:rPr>
              <a:t>• 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Bookmarks stored in SQLite, ordered through the Stack class (</a:t>
            </a:r>
            <a:r>
              <a:rPr sz="1050" b="1" i="0">
                <a:solidFill>
                  <a:srgbClr val="FFF7ED"/>
                </a:solidFill>
                <a:latin typeface="Segoe UI"/>
              </a:rPr>
              <a:t>routers/bookmarks.py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) — create = push, delete = pop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F59E0B"/>
                </a:solidFill>
                <a:latin typeface="Segoe UI"/>
              </a:rPr>
              <a:t>• 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Security: JWT refresh flow, bcrypt hashing, rate-limited login, owner-scoped queries (IDOR-proof — attacker gets 404, verified by 16/16 API tests)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3A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669280"/>
            <a:ext cx="3108960" cy="3108960"/>
          </a:xfrm>
          <a:prstGeom prst="ellipse">
            <a:avLst/>
          </a:prstGeom>
          <a:solidFill>
            <a:srgbClr val="331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08 ·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7ED"/>
                </a:solidFill>
                <a:latin typeface="Segoe UI"/>
              </a:rPr>
              <a:t>Outputs — live deployed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07008"/>
            <a:ext cx="3108960" cy="320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89B7E"/>
                </a:solidFill>
                <a:latin typeface="Segoe U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577840" cy="2240280"/>
          </a:xfrm>
          <a:prstGeom prst="roundRect">
            <a:avLst>
              <a:gd name="adj" fmla="val 5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pt-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490472"/>
            <a:ext cx="5431536" cy="30552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335584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FF7ED"/>
                </a:solidFill>
                <a:latin typeface="Segoe UI"/>
              </a:rPr>
              <a:t>Login — orange Saraswati theme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577840" cy="2240280"/>
          </a:xfrm>
          <a:prstGeom prst="roundRect">
            <a:avLst>
              <a:gd name="adj" fmla="val 5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pt-03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490472"/>
            <a:ext cx="5431536" cy="30552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79" y="335584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FF7ED"/>
                </a:solidFill>
                <a:latin typeface="Segoe UI"/>
              </a:rPr>
              <a:t>Dashboard — MSA project, 8 documents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23360"/>
            <a:ext cx="5577840" cy="2240280"/>
          </a:xfrm>
          <a:prstGeom prst="roundRect">
            <a:avLst>
              <a:gd name="adj" fmla="val 5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pt-04-trie-autocompl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096512"/>
            <a:ext cx="5431536" cy="30552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596188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FF7ED"/>
                </a:solidFill>
                <a:latin typeface="Segoe UI"/>
              </a:rPr>
              <a:t>Trie autocomplete — “signal” → freq-ranked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023360"/>
            <a:ext cx="5577840" cy="2240280"/>
          </a:xfrm>
          <a:prstGeom prst="roundRect">
            <a:avLst>
              <a:gd name="adj" fmla="val 5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pt-05-inverted-index-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4096512"/>
            <a:ext cx="5431536" cy="305523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55079" y="596188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FF7ED"/>
                </a:solidFill>
                <a:latin typeface="Segoe UI"/>
              </a:rPr>
              <a:t>Inverted Index — ranked results +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89B7E"/>
                </a:solidFill>
                <a:latin typeface="Segoe UI"/>
              </a:rPr>
              <a:t>Demo account: demo@knoprix.io / Password123!  ·  Live at knoprixv2midreview.netlify.app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3A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669280"/>
            <a:ext cx="3108960" cy="3108960"/>
          </a:xfrm>
          <a:prstGeom prst="ellipse">
            <a:avLst/>
          </a:prstGeom>
          <a:solidFill>
            <a:srgbClr val="331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08 ·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7ED"/>
                </a:solidFill>
                <a:latin typeface="Segoe UI"/>
              </a:rPr>
              <a:t>Outputs — DSA visualizer &amp; LIFO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07008"/>
            <a:ext cx="3108960" cy="320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89B7E"/>
                </a:solidFill>
                <a:latin typeface="Segoe U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577840" cy="3977639"/>
          </a:xfrm>
          <a:prstGeom prst="roundRect">
            <a:avLst>
              <a:gd name="adj" fmla="val 5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pt-06-dsa-visual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490472"/>
            <a:ext cx="5431536" cy="30552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505663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FF7ED"/>
                </a:solidFill>
                <a:latin typeface="Segoe UI"/>
              </a:rPr>
              <a:t>DSA Index Visualizer — Trie · Index · Stack stats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17320"/>
            <a:ext cx="5577840" cy="3977639"/>
          </a:xfrm>
          <a:prstGeom prst="roundRect">
            <a:avLst>
              <a:gd name="adj" fmla="val 5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pt-07-bookmarks-stack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490472"/>
            <a:ext cx="5431536" cy="30552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5079" y="5056632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FFF7ED"/>
                </a:solidFill>
                <a:latin typeface="Segoe UI"/>
              </a:rPr>
              <a:t>LIFO Stack drawer — 3 bookmarks, TOP highlighted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235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Live numbers at capture time: </a:t>
            </a:r>
            <a:r>
              <a:rPr sz="1100" b="0" i="0">
                <a:solidFill>
                  <a:srgbClr val="FFF7ED"/>
                </a:solidFill>
                <a:latin typeface="Segoe UI"/>
              </a:rPr>
              <a:t>2,978 Trie keywords · 2,978 index mappings · Stack depth 3 (TOP = page 3)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B89B7E"/>
                </a:solidFill>
                <a:latin typeface="Segoe UI"/>
              </a:rPr>
              <a:t>Rebuild one-click: re-tokenises every document and refreshes the index in place.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3A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669280"/>
            <a:ext cx="3108960" cy="3108960"/>
          </a:xfrm>
          <a:prstGeom prst="ellipse">
            <a:avLst/>
          </a:prstGeom>
          <a:solidFill>
            <a:srgbClr val="331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09 · WORK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7ED"/>
                </a:solidFill>
                <a:latin typeface="Segoe UI"/>
              </a:rPr>
              <a:t>Work Progress Timeline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07008"/>
            <a:ext cx="3108960" cy="320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89B7E"/>
                </a:solidFill>
                <a:latin typeface="Segoe U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7ED"/>
                </a:solidFill>
                <a:latin typeface="Segoe UI"/>
              </a:rPr>
              <a:t>Mid-review milestone: ~50% complete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83080"/>
            <a:ext cx="11183112" cy="457200"/>
          </a:xfrm>
          <a:prstGeom prst="roundRect">
            <a:avLst>
              <a:gd name="adj" fmla="val 50000"/>
            </a:avLst>
          </a:prstGeom>
          <a:solidFill>
            <a:srgbClr val="2B1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83080"/>
            <a:ext cx="5669280" cy="4572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50%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6888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4AD06E"/>
                </a:solidFill>
                <a:latin typeface="Segoe UI"/>
              </a:rPr>
              <a:t>✅ Completed (mid review)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4AD06E"/>
                </a:solidFill>
                <a:latin typeface="Segoe UI"/>
              </a:rPr>
              <a:t>✔ 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Trie autocomplete + top keywords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39" y="2788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4AD06E"/>
                </a:solidFill>
                <a:latin typeface="Segoe UI"/>
              </a:rPr>
              <a:t>✔ 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Inverted Index ranked full-text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729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4AD06E"/>
                </a:solidFill>
                <a:latin typeface="Segoe UI"/>
              </a:rPr>
              <a:t>✔ 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Stack (LIFO) bookmarks — visual drawer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31729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4AD06E"/>
                </a:solidFill>
                <a:latin typeface="Segoe UI"/>
              </a:rPr>
              <a:t>✔ 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Auth (JWT + bcrypt), projects, uploads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57015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4AD06E"/>
                </a:solidFill>
                <a:latin typeface="Segoe UI"/>
              </a:rPr>
              <a:t>✔ 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PDF / PPTX / DOCX / TXT readers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39" y="3557015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4AD06E"/>
                </a:solidFill>
                <a:latin typeface="Segoe UI"/>
              </a:rPr>
              <a:t>✔ 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Orange Saraswati theme, light/dark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4106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4AD06E"/>
                </a:solidFill>
                <a:latin typeface="Segoe UI"/>
              </a:rPr>
              <a:t>✔ 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Public deploy — Netlify + 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394106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4AD06E"/>
                </a:solidFill>
                <a:latin typeface="Segoe UI"/>
              </a:rPr>
              <a:t>✔ </a:t>
            </a:r>
            <a:r>
              <a:rPr sz="1050" b="0" i="0">
                <a:solidFill>
                  <a:srgbClr val="E8D5C0"/>
                </a:solidFill>
                <a:latin typeface="Segoe UI"/>
              </a:rPr>
              <a:t>16/16 API tests · frontend build 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4688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745E"/>
                </a:solidFill>
                <a:latin typeface="Segoe UI"/>
              </a:rPr>
              <a:t>⏳ Yet to do (final review)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7889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8A745E"/>
                </a:solidFill>
                <a:latin typeface="Segoe UI"/>
              </a:rPr>
              <a:t>◌ </a:t>
            </a:r>
            <a:r>
              <a:rPr sz="1050" b="0" i="0">
                <a:solidFill>
                  <a:srgbClr val="B89B7E"/>
                </a:solidFill>
                <a:latin typeface="Segoe UI"/>
              </a:rPr>
              <a:t>Knowledge Graph (auto concept linking)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1729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8A745E"/>
                </a:solidFill>
                <a:latin typeface="Segoe UI"/>
              </a:rPr>
              <a:t>◌ </a:t>
            </a:r>
            <a:r>
              <a:rPr sz="1050" b="0" i="0">
                <a:solidFill>
                  <a:srgbClr val="B89B7E"/>
                </a:solidFill>
                <a:latin typeface="Segoe UI"/>
              </a:rPr>
              <a:t>Min-Heap top-k passage ranking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57015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8A745E"/>
                </a:solidFill>
                <a:latin typeface="Segoe UI"/>
              </a:rPr>
              <a:t>◌ </a:t>
            </a:r>
            <a:r>
              <a:rPr sz="1050" b="0" i="0">
                <a:solidFill>
                  <a:srgbClr val="B89B7E"/>
                </a:solidFill>
                <a:latin typeface="Segoe UI"/>
              </a:rPr>
              <a:t>AI document agent (chat over files)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941063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8A745E"/>
                </a:solidFill>
                <a:latin typeface="Segoe UI"/>
              </a:rPr>
              <a:t>◌ </a:t>
            </a:r>
            <a:r>
              <a:rPr sz="1050" b="0" i="0">
                <a:solidFill>
                  <a:srgbClr val="B89B7E"/>
                </a:solidFill>
                <a:latin typeface="Segoe UI"/>
              </a:rPr>
              <a:t>Read-aloud (speech synthesis)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25112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8A745E"/>
                </a:solidFill>
                <a:latin typeface="Segoe UI"/>
              </a:rPr>
              <a:t>◌ </a:t>
            </a:r>
            <a:r>
              <a:rPr sz="1050" b="0" i="0">
                <a:solidFill>
                  <a:srgbClr val="B89B7E"/>
                </a:solidFill>
                <a:latin typeface="Segoe UI"/>
              </a:rPr>
              <a:t>Concept linking visualisation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029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Journey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34924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5486400"/>
            <a:ext cx="219456" cy="219456"/>
          </a:xfrm>
          <a:prstGeom prst="ellipse">
            <a:avLst/>
          </a:prstGeom>
          <a:solidFill>
            <a:srgbClr val="4AD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4223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Zeroth review</a:t>
            </a:r>
            <a:r>
              <a:rPr sz="900" b="0" i="0">
                <a:solidFill>
                  <a:srgbClr val="B89B7E"/>
                </a:solidFill>
                <a:latin typeface="Segoe UI"/>
              </a:rPr>
              <a:t>   Jul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7607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 i="0">
                <a:solidFill>
                  <a:srgbClr val="E8D5C0"/>
                </a:solidFill>
                <a:latin typeface="Segoe UI"/>
              </a:rPr>
              <a:t>Problem selection, literature, proposal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5968" y="534924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3A200B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53128" y="5486400"/>
            <a:ext cx="219456" cy="21945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3168" y="54223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Mid review</a:t>
            </a:r>
            <a:r>
              <a:rPr sz="900" b="0" i="0">
                <a:solidFill>
                  <a:srgbClr val="B89B7E"/>
                </a:solidFill>
                <a:latin typeface="Segoe UI"/>
              </a:rPr>
              <a:t>   Aug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57607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 i="0">
                <a:solidFill>
                  <a:srgbClr val="E8D5C0"/>
                </a:solidFill>
                <a:latin typeface="Segoe UI"/>
              </a:rPr>
              <a:t>3 structures live + deployed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29016" y="5349240"/>
            <a:ext cx="3566160" cy="960120"/>
          </a:xfrm>
          <a:prstGeom prst="roundRect">
            <a:avLst>
              <a:gd name="adj" fmla="val 8000"/>
            </a:avLst>
          </a:prstGeom>
          <a:solidFill>
            <a:srgbClr val="22140B"/>
          </a:solidFill>
          <a:ln w="9525">
            <a:solidFill>
              <a:srgbClr val="4A3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66176" y="5486400"/>
            <a:ext cx="219456" cy="219456"/>
          </a:xfrm>
          <a:prstGeom prst="ellipse">
            <a:avLst/>
          </a:prstGeom>
          <a:solidFill>
            <a:srgbClr val="8A74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86216" y="54223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7ED"/>
                </a:solidFill>
                <a:latin typeface="Segoe UI"/>
              </a:rPr>
              <a:t>Final review</a:t>
            </a:r>
            <a:r>
              <a:rPr sz="900" b="0" i="0">
                <a:solidFill>
                  <a:srgbClr val="B89B7E"/>
                </a:solidFill>
                <a:latin typeface="Segoe UI"/>
              </a:rPr>
              <a:t>   Nov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86216" y="576072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850" b="0" i="0">
                <a:solidFill>
                  <a:srgbClr val="E8D5C0"/>
                </a:solidFill>
                <a:latin typeface="Segoe UI"/>
              </a:rPr>
              <a:t>Knowledge Graph · Min-Heap · AI agent · read-aloud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3A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669280"/>
            <a:ext cx="3108960" cy="3108960"/>
          </a:xfrm>
          <a:prstGeom prst="ellipse">
            <a:avLst/>
          </a:prstGeom>
          <a:solidFill>
            <a:srgbClr val="331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59E0B"/>
                </a:solidFill>
                <a:latin typeface="Segoe UI"/>
              </a:rPr>
              <a:t>10 ·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035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FFF7ED"/>
                </a:solidFill>
                <a:latin typeface="Segoe UI"/>
              </a:rPr>
              <a:t>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207008"/>
            <a:ext cx="3108960" cy="320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89B7E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44475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FFF7ED"/>
                </a:solidFill>
                <a:latin typeface="Segoe UI"/>
              </a:rPr>
              <a:t>Lewis, P., Perez, E., Piktus, A., et al. — </a:t>
            </a:r>
            <a:r>
              <a:rPr sz="1100" b="0" i="0">
                <a:solidFill>
                  <a:srgbClr val="E8D5C0"/>
                </a:solidFill>
                <a:latin typeface="Segoe UI"/>
              </a:rPr>
              <a:t>“Retrieval-Augmented Generation for Knowledge-Intensive NLP Tasks.” Advances in Neural Information Processing Systems (NeurIPS), 2020.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3911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20824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FFF7ED"/>
                </a:solidFill>
                <a:latin typeface="Segoe UI"/>
              </a:rPr>
              <a:t>Zobel, J. &amp; Moffat, A. — </a:t>
            </a:r>
            <a:r>
              <a:rPr sz="1100" b="0" i="0">
                <a:solidFill>
                  <a:srgbClr val="E8D5C0"/>
                </a:solidFill>
                <a:latin typeface="Segoe UI"/>
              </a:rPr>
              <a:t>“Inverted Files for Text Search Engines.” ACM Computing Surveys, 38(2), 2006.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1518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96896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FFF7ED"/>
                </a:solidFill>
                <a:latin typeface="Segoe UI"/>
              </a:rPr>
              <a:t>Fredkin, E. — </a:t>
            </a:r>
            <a:r>
              <a:rPr sz="1100" b="0" i="0">
                <a:solidFill>
                  <a:srgbClr val="E8D5C0"/>
                </a:solidFill>
                <a:latin typeface="Segoe UI"/>
              </a:rPr>
              <a:t>“Trie Memory.” Communications of the ACM, 3(9), 1960.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9125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7296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FFF7ED"/>
                </a:solidFill>
                <a:latin typeface="Segoe UI"/>
              </a:rPr>
              <a:t>Ilyas, I. F., Beskales, G., Soliman, M. A. — </a:t>
            </a:r>
            <a:r>
              <a:rPr sz="1100" b="0" i="0">
                <a:solidFill>
                  <a:srgbClr val="E8D5C0"/>
                </a:solidFill>
                <a:latin typeface="Segoe UI"/>
              </a:rPr>
              <a:t>“A Survey of Top-k Query Processing Techniques in Relational Databases.” ACM Computing Surveys, 40(4), 2008.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673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4904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FFF7ED"/>
                </a:solidFill>
                <a:latin typeface="Segoe UI"/>
              </a:rPr>
              <a:t>Kahn, A. B. — </a:t>
            </a:r>
            <a:r>
              <a:rPr sz="1100" b="0" i="0">
                <a:solidFill>
                  <a:srgbClr val="E8D5C0"/>
                </a:solidFill>
                <a:latin typeface="Segoe UI"/>
              </a:rPr>
              <a:t>“Topological Sorting of Large Networks.” Communications of the ACM, 5(11), 1962.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434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2511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FFF7ED"/>
                </a:solidFill>
                <a:latin typeface="Segoe UI"/>
              </a:rPr>
              <a:t>Brin, S. &amp; Page, L. — </a:t>
            </a:r>
            <a:r>
              <a:rPr sz="1100" b="0" i="0">
                <a:solidFill>
                  <a:srgbClr val="E8D5C0"/>
                </a:solidFill>
                <a:latin typeface="Segoe UI"/>
              </a:rPr>
              <a:t>“The Anatomy of a Large-Scale Hypertextual Web Search Engine.” Computer Networks and ISDN Systems, 30(1–7), 1998.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194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01184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FFF7ED"/>
                </a:solidFill>
                <a:latin typeface="Segoe UI"/>
              </a:rPr>
              <a:t>Cormen, T. H., Leiserson, C. E., Rivest, R. L., Stein, C. — </a:t>
            </a:r>
            <a:r>
              <a:rPr sz="1100" b="0" i="0">
                <a:solidFill>
                  <a:srgbClr val="E8D5C0"/>
                </a:solidFill>
                <a:latin typeface="Segoe UI"/>
              </a:rPr>
              <a:t>Introduction to Algorithms, 3rd ed., MIT Press, 2009 (Trie, heaps, hash tables).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955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Segoe UI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477256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FFF7ED"/>
                </a:solidFill>
                <a:latin typeface="Segoe UI"/>
              </a:rPr>
              <a:t>Tools reviewed — </a:t>
            </a:r>
            <a:r>
              <a:rPr sz="1100" b="0" i="0">
                <a:solidFill>
                  <a:srgbClr val="E8D5C0"/>
                </a:solidFill>
                <a:latin typeface="Segoe UI"/>
              </a:rPr>
              <a:t>Obsidian (Dynalist, 2020) · Roam Research (2019) · Google NotebookLM (2023).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0D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645920"/>
            <a:ext cx="3840480" cy="3840480"/>
          </a:xfrm>
          <a:prstGeom prst="ellipse">
            <a:avLst/>
          </a:prstGeom>
          <a:solidFill>
            <a:srgbClr val="3A2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5669280"/>
            <a:ext cx="3108960" cy="3108960"/>
          </a:xfrm>
          <a:prstGeom prst="ellipse">
            <a:avLst/>
          </a:prstGeom>
          <a:solidFill>
            <a:srgbClr val="331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7ED"/>
                </a:solidFill>
                <a:latin typeface="Segoe U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E8D5C0"/>
                </a:solidFill>
                <a:latin typeface="Segoe UI"/>
              </a:rPr>
              <a:t>Questions &amp; feedback are welcome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41148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F7ED"/>
                </a:solidFill>
                <a:latin typeface="Segoe UI"/>
              </a:rPr>
              <a:t>T.V.S.S Phanindra Guptha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4622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F59E0B"/>
                </a:solidFill>
                <a:latin typeface="Segoe UI"/>
              </a:rPr>
              <a:t>cb.ai.u4aid25055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8" y="41148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F7ED"/>
                </a:solidFill>
                <a:latin typeface="Segoe UI"/>
              </a:rPr>
              <a:t>Athul V.R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8" y="44622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F59E0B"/>
                </a:solidFill>
                <a:latin typeface="Segoe UI"/>
              </a:rPr>
              <a:t>cb.ai.u4aid25005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41148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F7ED"/>
                </a:solidFill>
                <a:latin typeface="Segoe UI"/>
              </a:rPr>
              <a:t>M. Vittal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44622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F59E0B"/>
                </a:solidFill>
                <a:latin typeface="Segoe UI"/>
              </a:rPr>
              <a:t>cb.ai.u4aid25033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41148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F7ED"/>
                </a:solidFill>
                <a:latin typeface="Segoe UI"/>
              </a:rPr>
              <a:t>K. Nanda Kishore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446227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F59E0B"/>
                </a:solidFill>
                <a:latin typeface="Segoe UI"/>
              </a:rPr>
              <a:t>cb.ai.u4aid25027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212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89B7E"/>
                </a:solidFill>
                <a:latin typeface="Segoe UI"/>
              </a:rPr>
              <a:t>KNOPRIX · A DSA-Powered Knowledge Management Platform · Group A12 · ADSA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